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785AA-518D-4632-93C0-E90A807A4F11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80BB4-B087-47BE-A29D-FCA83B347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1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0BB4-B087-47BE-A29D-FCA83B3479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428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0BB4-B087-47BE-A29D-FCA83B34796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3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0BB4-B087-47BE-A29D-FCA83B34796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400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7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67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7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6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108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12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73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30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1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7260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76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60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899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94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2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DD9659C-2AD6-4AC1-AEFD-17D1FF0A437F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016B-2207-4FA5-86D6-9427F7E35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067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5A38-E78F-A9CC-F24D-132B6D858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74914"/>
            <a:ext cx="8825658" cy="3929743"/>
          </a:xfrm>
        </p:spPr>
        <p:txBody>
          <a:bodyPr/>
          <a:lstStyle/>
          <a:p>
            <a:pPr algn="ctr"/>
            <a:r>
              <a:rPr lang="en-IN" sz="3700" b="1" dirty="0"/>
              <a:t>ADVENTURE WORKS</a:t>
            </a:r>
            <a:br>
              <a:rPr lang="en-IN" sz="3700" b="1" dirty="0"/>
            </a:br>
            <a:br>
              <a:rPr lang="en-IN" sz="3600" dirty="0"/>
            </a:br>
            <a:r>
              <a:rPr lang="en-IN" sz="2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ANALYTICS</a:t>
            </a:r>
            <a:br>
              <a:rPr lang="en-IN" sz="2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br>
              <a:rPr lang="en-IN" sz="2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IN" sz="2400" dirty="0"/>
              <a:t>End-to-End Data Analytics Project</a:t>
            </a:r>
            <a:br>
              <a:rPr lang="en-IN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endParaRPr lang="en-IN" sz="3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AEC56-90B5-75DD-FBD6-8120F8D7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78086"/>
            <a:ext cx="9458616" cy="1360715"/>
          </a:xfrm>
        </p:spPr>
        <p:txBody>
          <a:bodyPr>
            <a:normAutofit/>
          </a:bodyPr>
          <a:lstStyle/>
          <a:p>
            <a:pPr algn="r"/>
            <a:r>
              <a:rPr lang="en-US" sz="2400" b="1" dirty="0" err="1">
                <a:solidFill>
                  <a:schemeClr val="tx1"/>
                </a:solidFill>
              </a:rPr>
              <a:t>PREsented</a:t>
            </a:r>
            <a:r>
              <a:rPr lang="en-US" sz="2400" b="1" dirty="0">
                <a:solidFill>
                  <a:schemeClr val="tx1"/>
                </a:solidFill>
              </a:rPr>
              <a:t> by: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Jatin Kumar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5903F3-3889-289D-1512-5C8D36110DC1}"/>
              </a:ext>
            </a:extLst>
          </p:cNvPr>
          <p:cNvSpPr/>
          <p:nvPr/>
        </p:nvSpPr>
        <p:spPr>
          <a:xfrm>
            <a:off x="3831512" y="886462"/>
            <a:ext cx="3472543" cy="4695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SALES • DATA • INSIGHTS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21CCF1-2AB5-96A6-4749-F01F5E4C9CED}"/>
              </a:ext>
            </a:extLst>
          </p:cNvPr>
          <p:cNvCxnSpPr>
            <a:cxnSpLocks/>
          </p:cNvCxnSpPr>
          <p:nvPr/>
        </p:nvCxnSpPr>
        <p:spPr>
          <a:xfrm>
            <a:off x="1154955" y="4191000"/>
            <a:ext cx="95457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5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95B7-DDE1-F656-7689-AE9B6B381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91025"/>
          </a:xfrm>
        </p:spPr>
        <p:txBody>
          <a:bodyPr/>
          <a:lstStyle/>
          <a:p>
            <a:r>
              <a:rPr lang="en-IN" sz="3200" b="1" dirty="0">
                <a:solidFill>
                  <a:schemeClr val="accent3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CA1C5-1D5B-DEAC-D34B-579238B9C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86548"/>
            <a:ext cx="8946541" cy="506185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3000" b="1" dirty="0"/>
              <a:t>About the Project</a:t>
            </a:r>
          </a:p>
          <a:p>
            <a:pPr marL="0" indent="0">
              <a:buNone/>
            </a:pPr>
            <a:r>
              <a:rPr lang="en-IN" sz="2200" dirty="0"/>
              <a:t>Adventure Works Sales Analytics is a data analytics project focused on </a:t>
            </a:r>
            <a:r>
              <a:rPr lang="en-IN" sz="2200" dirty="0" err="1"/>
              <a:t>analyzing</a:t>
            </a:r>
            <a:r>
              <a:rPr lang="en-IN" sz="2200" dirty="0"/>
              <a:t> sales performance across products, customers, time periods, and regions.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b="1" dirty="0"/>
              <a:t>Project Objectives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sz="2100" dirty="0"/>
              <a:t>• </a:t>
            </a:r>
            <a:r>
              <a:rPr lang="en-IN" sz="2100" dirty="0" err="1"/>
              <a:t>Analyze</a:t>
            </a:r>
            <a:r>
              <a:rPr lang="en-IN" sz="2100" dirty="0"/>
              <a:t> overall sales performance.</a:t>
            </a:r>
            <a:br>
              <a:rPr lang="en-IN" sz="2100" dirty="0"/>
            </a:br>
            <a:r>
              <a:rPr lang="en-IN" sz="2100" dirty="0"/>
              <a:t>  • Calculate Sales Amount, Production Cost, and Profit.</a:t>
            </a:r>
            <a:br>
              <a:rPr lang="en-IN" sz="2100" dirty="0"/>
            </a:br>
            <a:r>
              <a:rPr lang="en-IN" sz="2100" dirty="0"/>
              <a:t>  • Identify top-performing products and customers.</a:t>
            </a:r>
            <a:br>
              <a:rPr lang="en-IN" sz="2100" dirty="0"/>
            </a:br>
            <a:r>
              <a:rPr lang="en-IN" sz="2100" dirty="0"/>
              <a:t>  • Compare sales across years, months, quarters, and regions.</a:t>
            </a:r>
            <a:br>
              <a:rPr lang="en-IN" sz="2100" dirty="0"/>
            </a:br>
            <a:r>
              <a:rPr lang="en-IN" sz="2100" dirty="0"/>
              <a:t>  • Build interactive dashboards for business insights.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45EEDA-7D5F-CBD1-0FD0-1E0A589A8613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646111" y="1048231"/>
            <a:ext cx="940472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34B5AC-E173-3623-2A28-2B9137BEBB7C}"/>
              </a:ext>
            </a:extLst>
          </p:cNvPr>
          <p:cNvSpPr/>
          <p:nvPr/>
        </p:nvSpPr>
        <p:spPr>
          <a:xfrm>
            <a:off x="1210865" y="5508171"/>
            <a:ext cx="2116093" cy="1191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IN" sz="2400" b="1" dirty="0"/>
          </a:p>
          <a:p>
            <a:pPr algn="ctr"/>
            <a:r>
              <a:rPr lang="en-IN" sz="2400" b="1" dirty="0">
                <a:solidFill>
                  <a:schemeClr val="bg1"/>
                </a:solidFill>
              </a:rPr>
              <a:t>Excel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9C1E27-2155-EEC0-211E-C1D51B2FE5D1}"/>
              </a:ext>
            </a:extLst>
          </p:cNvPr>
          <p:cNvSpPr/>
          <p:nvPr/>
        </p:nvSpPr>
        <p:spPr>
          <a:xfrm>
            <a:off x="3432444" y="5508171"/>
            <a:ext cx="2109277" cy="1191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sz="2400" b="1" dirty="0">
                <a:solidFill>
                  <a:schemeClr val="bg1"/>
                </a:solidFill>
              </a:rPr>
              <a:t>MySQL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5E500A-5C6E-53F3-B088-F29807993D89}"/>
              </a:ext>
            </a:extLst>
          </p:cNvPr>
          <p:cNvSpPr/>
          <p:nvPr/>
        </p:nvSpPr>
        <p:spPr>
          <a:xfrm>
            <a:off x="5647207" y="5508171"/>
            <a:ext cx="2155923" cy="1191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sz="2400" b="1" dirty="0">
                <a:solidFill>
                  <a:schemeClr val="bg1"/>
                </a:solidFill>
              </a:rPr>
              <a:t>Tableau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16AA46-3687-1B72-E6B8-0D98E0ABD3CA}"/>
              </a:ext>
            </a:extLst>
          </p:cNvPr>
          <p:cNvSpPr/>
          <p:nvPr/>
        </p:nvSpPr>
        <p:spPr>
          <a:xfrm>
            <a:off x="7893930" y="5508171"/>
            <a:ext cx="2155923" cy="1191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sz="2400" b="1" dirty="0">
                <a:solidFill>
                  <a:schemeClr val="bg1"/>
                </a:solidFill>
              </a:rPr>
              <a:t>Power BI</a:t>
            </a:r>
          </a:p>
        </p:txBody>
      </p:sp>
      <p:pic>
        <p:nvPicPr>
          <p:cNvPr id="20" name="Graphic 19" descr="Table with solid fill">
            <a:extLst>
              <a:ext uri="{FF2B5EF4-FFF2-40B4-BE49-F238E27FC236}">
                <a16:creationId xmlns:a16="http://schemas.microsoft.com/office/drawing/2014/main" id="{FE60C189-119B-73B5-1BFE-F65861AFF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7815" y="5508170"/>
            <a:ext cx="914400" cy="740229"/>
          </a:xfrm>
          <a:prstGeom prst="rect">
            <a:avLst/>
          </a:prstGeom>
        </p:spPr>
      </p:pic>
      <p:pic>
        <p:nvPicPr>
          <p:cNvPr id="22" name="Graphic 21" descr="Database outline">
            <a:extLst>
              <a:ext uri="{FF2B5EF4-FFF2-40B4-BE49-F238E27FC236}">
                <a16:creationId xmlns:a16="http://schemas.microsoft.com/office/drawing/2014/main" id="{359D86EA-6E0F-28E5-2804-96EAD5479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1461" y="5584371"/>
            <a:ext cx="914400" cy="664028"/>
          </a:xfrm>
          <a:prstGeom prst="rect">
            <a:avLst/>
          </a:prstGeom>
        </p:spPr>
      </p:pic>
      <p:pic>
        <p:nvPicPr>
          <p:cNvPr id="24" name="Graphic 23" descr="Bar graph with upward trend outline">
            <a:extLst>
              <a:ext uri="{FF2B5EF4-FFF2-40B4-BE49-F238E27FC236}">
                <a16:creationId xmlns:a16="http://schemas.microsoft.com/office/drawing/2014/main" id="{FFA37A14-EBF2-0227-DD9E-01747B675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0738" y="5584371"/>
            <a:ext cx="914400" cy="615043"/>
          </a:xfrm>
          <a:prstGeom prst="rect">
            <a:avLst/>
          </a:prstGeom>
        </p:spPr>
      </p:pic>
      <p:pic>
        <p:nvPicPr>
          <p:cNvPr id="32" name="Graphic 31" descr="Pie chart outline">
            <a:extLst>
              <a:ext uri="{FF2B5EF4-FFF2-40B4-BE49-F238E27FC236}">
                <a16:creationId xmlns:a16="http://schemas.microsoft.com/office/drawing/2014/main" id="{C8DA1DE8-F64D-5C62-178E-DCF010C6A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6548" y="5584371"/>
            <a:ext cx="914400" cy="61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9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9991-4188-9BA9-D01D-5ABCDAC6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8" y="311204"/>
            <a:ext cx="9404723" cy="744711"/>
          </a:xfrm>
        </p:spPr>
        <p:txBody>
          <a:bodyPr/>
          <a:lstStyle/>
          <a:p>
            <a:r>
              <a:rPr lang="en-IN" sz="4000" b="1" dirty="0"/>
              <a:t>PROJECT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283A44-F88E-FD41-F8C6-44E619066A3E}"/>
              </a:ext>
            </a:extLst>
          </p:cNvPr>
          <p:cNvSpPr/>
          <p:nvPr/>
        </p:nvSpPr>
        <p:spPr>
          <a:xfrm>
            <a:off x="827314" y="1143000"/>
            <a:ext cx="9404723" cy="838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Data Preparation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Excel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Graphic 4" descr="Arrow Down with solid fill">
            <a:extLst>
              <a:ext uri="{FF2B5EF4-FFF2-40B4-BE49-F238E27FC236}">
                <a16:creationId xmlns:a16="http://schemas.microsoft.com/office/drawing/2014/main" id="{8B307717-737E-20C0-2EFF-CB2280B550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3929" y="2068285"/>
            <a:ext cx="914400" cy="39188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2C564-1D77-CA60-736F-482F8F7456BD}"/>
              </a:ext>
            </a:extLst>
          </p:cNvPr>
          <p:cNvSpPr/>
          <p:nvPr/>
        </p:nvSpPr>
        <p:spPr>
          <a:xfrm>
            <a:off x="827313" y="2547256"/>
            <a:ext cx="9404723" cy="838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2. Data Modelling &amp; SQL Analysis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MySQL Workbench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DA4576-F7FE-DF29-3150-C6098247D922}"/>
              </a:ext>
            </a:extLst>
          </p:cNvPr>
          <p:cNvSpPr/>
          <p:nvPr/>
        </p:nvSpPr>
        <p:spPr>
          <a:xfrm>
            <a:off x="827313" y="3973282"/>
            <a:ext cx="9404723" cy="838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3. Dashboard Development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Tableau + Power BI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911A6D-D19F-1ED4-FE18-2E028B7BA923}"/>
              </a:ext>
            </a:extLst>
          </p:cNvPr>
          <p:cNvSpPr/>
          <p:nvPr/>
        </p:nvSpPr>
        <p:spPr>
          <a:xfrm>
            <a:off x="827313" y="5475522"/>
            <a:ext cx="9404723" cy="838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4. Sales Insights &amp; Reporting</a:t>
            </a:r>
          </a:p>
        </p:txBody>
      </p:sp>
      <p:pic>
        <p:nvPicPr>
          <p:cNvPr id="15" name="Graphic 14" descr="Arrow Down with solid fill">
            <a:extLst>
              <a:ext uri="{FF2B5EF4-FFF2-40B4-BE49-F238E27FC236}">
                <a16:creationId xmlns:a16="http://schemas.microsoft.com/office/drawing/2014/main" id="{40A092F8-2222-9C36-3299-1ECDFB84C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3929" y="5007422"/>
            <a:ext cx="914400" cy="391886"/>
          </a:xfrm>
          <a:prstGeom prst="rect">
            <a:avLst/>
          </a:prstGeom>
        </p:spPr>
      </p:pic>
      <p:pic>
        <p:nvPicPr>
          <p:cNvPr id="17" name="Graphic 16" descr="Arrow Down with solid fill">
            <a:extLst>
              <a:ext uri="{FF2B5EF4-FFF2-40B4-BE49-F238E27FC236}">
                <a16:creationId xmlns:a16="http://schemas.microsoft.com/office/drawing/2014/main" id="{38BBB620-D77F-F159-CB1D-5E7D8AABD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23929" y="3483426"/>
            <a:ext cx="914400" cy="39188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6FD83CC-081C-66BD-0514-26D78F5CC1FF}"/>
              </a:ext>
            </a:extLst>
          </p:cNvPr>
          <p:cNvCxnSpPr/>
          <p:nvPr/>
        </p:nvCxnSpPr>
        <p:spPr>
          <a:xfrm>
            <a:off x="678768" y="1055915"/>
            <a:ext cx="541723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24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46CA-2C0E-58AC-B291-2D02F07D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64453"/>
          </a:xfrm>
        </p:spPr>
        <p:txBody>
          <a:bodyPr/>
          <a:lstStyle/>
          <a:p>
            <a:r>
              <a:rPr lang="en-IN" b="1" dirty="0"/>
              <a:t>DATA MODEL &amp; RELATIONSHIPS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28765E-1F57-5DA3-2F43-C40D1DDF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261518"/>
            <a:ext cx="8160432" cy="5287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590813-D863-DF45-9574-F77EABA2AA5E}"/>
              </a:ext>
            </a:extLst>
          </p:cNvPr>
          <p:cNvSpPr txBox="1"/>
          <p:nvPr/>
        </p:nvSpPr>
        <p:spPr>
          <a:xfrm>
            <a:off x="8991599" y="2354804"/>
            <a:ext cx="2993572" cy="4194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SALES table is connected to </a:t>
            </a:r>
            <a:r>
              <a:rPr lang="en-IN" dirty="0" err="1"/>
              <a:t>DimDate</a:t>
            </a:r>
            <a:r>
              <a:rPr lang="en-IN" dirty="0"/>
              <a:t>, </a:t>
            </a:r>
            <a:r>
              <a:rPr lang="en-IN" dirty="0" err="1"/>
              <a:t>DimCustomer</a:t>
            </a:r>
            <a:r>
              <a:rPr lang="en-IN" dirty="0"/>
              <a:t>, </a:t>
            </a:r>
            <a:r>
              <a:rPr lang="en-IN" dirty="0" err="1"/>
              <a:t>DimProduct</a:t>
            </a:r>
            <a:r>
              <a:rPr lang="en-IN" dirty="0"/>
              <a:t>, and </a:t>
            </a:r>
            <a:r>
              <a:rPr lang="en-IN" dirty="0" err="1"/>
              <a:t>DimSalesTerritory</a:t>
            </a:r>
            <a:r>
              <a:rPr lang="en-IN" dirty="0"/>
              <a:t>. </a:t>
            </a:r>
            <a:r>
              <a:rPr lang="en-IN" dirty="0" err="1"/>
              <a:t>DimProduct</a:t>
            </a:r>
            <a:r>
              <a:rPr lang="en-IN" dirty="0"/>
              <a:t> is linked to </a:t>
            </a:r>
            <a:r>
              <a:rPr lang="en-IN" dirty="0" err="1"/>
              <a:t>DimProductSubCategory</a:t>
            </a:r>
            <a:r>
              <a:rPr lang="en-IN" dirty="0"/>
              <a:t>, which is connected to </a:t>
            </a:r>
            <a:r>
              <a:rPr lang="en-IN" dirty="0" err="1"/>
              <a:t>DimProductCategory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25F60B-F71F-D9A1-AC1F-553D4EEB9E2D}"/>
              </a:ext>
            </a:extLst>
          </p:cNvPr>
          <p:cNvCxnSpPr/>
          <p:nvPr/>
        </p:nvCxnSpPr>
        <p:spPr>
          <a:xfrm>
            <a:off x="646111" y="1121229"/>
            <a:ext cx="796448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45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91E21-3575-8CFA-EF25-9C5B09B61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SQL DATA PREPARATION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C5269-10A7-8DDF-4BC0-6DC1D7B0A2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92" y="969736"/>
            <a:ext cx="5449889" cy="491852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19192-EBA0-CDAB-1AD8-BAFF9C58C36A}"/>
              </a:ext>
            </a:extLst>
          </p:cNvPr>
          <p:cNvSpPr txBox="1"/>
          <p:nvPr/>
        </p:nvSpPr>
        <p:spPr>
          <a:xfrm>
            <a:off x="648931" y="2251587"/>
            <a:ext cx="4166509" cy="4188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  <a:ea typeface="+mj-ea"/>
                <a:cs typeface="+mj-cs"/>
              </a:rPr>
              <a:t>DATA PREPARATION IN MYSQL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Imported Adventure Works tables into the MySQL database.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Reviewed and prepared the sales and dimension tables.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Combined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FactInternetSales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Fact_Internet_Sales_New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using UNION ALL.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Created the combined SALES table for further analysis.</a:t>
            </a:r>
          </a:p>
          <a:p>
            <a:pPr marL="285750" lvl="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Verified a total of 60,398 sales records.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E6FEE1-1EF5-E31D-229A-A2282B3046BB}"/>
              </a:ext>
            </a:extLst>
          </p:cNvPr>
          <p:cNvCxnSpPr/>
          <p:nvPr/>
        </p:nvCxnSpPr>
        <p:spPr>
          <a:xfrm>
            <a:off x="751114" y="2002971"/>
            <a:ext cx="3657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A5A9B-ED0F-1F90-179C-88A859CE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KEY SQL ANALYSIS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BAF956B-591A-4461-BB3C-79AA176B0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Freeform 23">
            <a:extLst>
              <a:ext uri="{FF2B5EF4-FFF2-40B4-BE49-F238E27FC236}">
                <a16:creationId xmlns:a16="http://schemas.microsoft.com/office/drawing/2014/main" id="{E8895FAA-0D03-43F6-9594-A8733552E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5079A1-2F91-60F8-42E6-0023072B86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592" y="987770"/>
            <a:ext cx="4197025" cy="3242202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18FB696-BC5E-43A4-9768-4BB5278BD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349F7-58CF-8E5B-5ED9-556BDFEAB0EC}"/>
              </a:ext>
            </a:extLst>
          </p:cNvPr>
          <p:cNvSpPr txBox="1"/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400" b="1" dirty="0">
                <a:latin typeface="+mj-lt"/>
                <a:ea typeface="+mj-ea"/>
                <a:cs typeface="+mj-cs"/>
              </a:rPr>
              <a:t>ANALYSIS COVERED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Year-wise and month-wise sales analysis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Quarterly sales performance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Production cost and profit calculations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latin typeface="+mj-lt"/>
                <a:ea typeface="+mj-ea"/>
                <a:cs typeface="+mj-cs"/>
              </a:rPr>
              <a:t>Region-wise sales and top products/customers analysis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E6A9C3-2F0D-57FF-1EC8-9325F38233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99" y="4462708"/>
            <a:ext cx="3799410" cy="2162557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391C1A-8EB3-DA8B-6EF3-A6F6FA03DB97}"/>
              </a:ext>
            </a:extLst>
          </p:cNvPr>
          <p:cNvCxnSpPr/>
          <p:nvPr/>
        </p:nvCxnSpPr>
        <p:spPr>
          <a:xfrm>
            <a:off x="646112" y="1853248"/>
            <a:ext cx="292440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60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7F6A-6146-30AC-E4DC-19CA1841A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962"/>
            <a:ext cx="9404723" cy="722939"/>
          </a:xfrm>
        </p:spPr>
        <p:txBody>
          <a:bodyPr/>
          <a:lstStyle/>
          <a:p>
            <a:r>
              <a:rPr lang="en-IN" sz="4000" b="1" dirty="0"/>
              <a:t>EXCEL SALES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5410F-6E1D-62A4-F25D-5F03A78FC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1164770"/>
            <a:ext cx="11963400" cy="5693229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512B61-F3F8-91DD-8B4C-21A2C4B2E45A}"/>
              </a:ext>
            </a:extLst>
          </p:cNvPr>
          <p:cNvCxnSpPr/>
          <p:nvPr/>
        </p:nvCxnSpPr>
        <p:spPr>
          <a:xfrm>
            <a:off x="108857" y="870857"/>
            <a:ext cx="702128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64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3731-4CD0-34A0-E793-8EDC47979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41" y="143387"/>
            <a:ext cx="9404723" cy="799139"/>
          </a:xfrm>
        </p:spPr>
        <p:txBody>
          <a:bodyPr/>
          <a:lstStyle/>
          <a:p>
            <a:r>
              <a:rPr lang="en-IN" sz="4000" b="1" dirty="0"/>
              <a:t>TABLEAU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94C32-F2ED-FD29-211A-188EF1BBF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1" y="1292095"/>
            <a:ext cx="11856616" cy="5422518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41E28D-598F-8F9C-9C15-30A1CE9BB4AF}"/>
              </a:ext>
            </a:extLst>
          </p:cNvPr>
          <p:cNvCxnSpPr/>
          <p:nvPr/>
        </p:nvCxnSpPr>
        <p:spPr>
          <a:xfrm>
            <a:off x="139441" y="942526"/>
            <a:ext cx="549935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43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D929-D14F-F137-F377-56670794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196080"/>
            <a:ext cx="9404723" cy="744711"/>
          </a:xfrm>
        </p:spPr>
        <p:txBody>
          <a:bodyPr/>
          <a:lstStyle/>
          <a:p>
            <a:r>
              <a:rPr lang="en-IN" sz="4000" b="1" dirty="0"/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67A674-84C3-2E42-3D88-438ABF8EA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197429"/>
            <a:ext cx="10899779" cy="5464491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1BC0DF-2571-E624-5225-6E96EA87F373}"/>
              </a:ext>
            </a:extLst>
          </p:cNvPr>
          <p:cNvCxnSpPr/>
          <p:nvPr/>
        </p:nvCxnSpPr>
        <p:spPr>
          <a:xfrm>
            <a:off x="646110" y="940791"/>
            <a:ext cx="567849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946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F942-C360-EE6E-76A5-975915CE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4711"/>
          </a:xfrm>
        </p:spPr>
        <p:txBody>
          <a:bodyPr/>
          <a:lstStyle/>
          <a:p>
            <a:r>
              <a:rPr lang="en-IN" sz="4000" b="1" dirty="0"/>
              <a:t>SALES ANALYSIS SUMMARY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072BF8-8025-670D-9069-9BFE3F390188}"/>
              </a:ext>
            </a:extLst>
          </p:cNvPr>
          <p:cNvSpPr/>
          <p:nvPr/>
        </p:nvSpPr>
        <p:spPr>
          <a:xfrm>
            <a:off x="783770" y="1523999"/>
            <a:ext cx="5312229" cy="2329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accent1"/>
                </a:solidFill>
              </a:rPr>
              <a:t>Time-Based Analysis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Analyzed</a:t>
            </a:r>
            <a:r>
              <a:rPr lang="en-IN" sz="2000" dirty="0">
                <a:solidFill>
                  <a:schemeClr val="bg1"/>
                </a:solidFill>
              </a:rPr>
              <a:t> sales by year, month, and quarter.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10AB24-D429-4F42-9B14-6A86E3F7E172}"/>
              </a:ext>
            </a:extLst>
          </p:cNvPr>
          <p:cNvSpPr/>
          <p:nvPr/>
        </p:nvSpPr>
        <p:spPr>
          <a:xfrm>
            <a:off x="6248399" y="1524000"/>
            <a:ext cx="5312229" cy="2329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accent1"/>
                </a:solidFill>
              </a:rPr>
              <a:t>Profitability Analysis</a:t>
            </a:r>
          </a:p>
          <a:p>
            <a:r>
              <a:rPr lang="en-IN" sz="2000" dirty="0">
                <a:solidFill>
                  <a:schemeClr val="bg1"/>
                </a:solidFill>
              </a:rPr>
              <a:t>Calculated Sales Amount, Production Cost, and Profit.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F1578A-F7DF-460C-37E8-E03BA20666F4}"/>
              </a:ext>
            </a:extLst>
          </p:cNvPr>
          <p:cNvSpPr/>
          <p:nvPr/>
        </p:nvSpPr>
        <p:spPr>
          <a:xfrm>
            <a:off x="6248400" y="4075738"/>
            <a:ext cx="5312229" cy="2329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accent1"/>
                </a:solidFill>
              </a:rPr>
              <a:t>Dashboard Reporting</a:t>
            </a:r>
          </a:p>
          <a:p>
            <a:r>
              <a:rPr lang="en-IN" sz="2000" dirty="0">
                <a:solidFill>
                  <a:schemeClr val="bg1"/>
                </a:solidFill>
              </a:rPr>
              <a:t>Presented sales analysis using Excel, Tableau, and Power BI.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8CB04A-AE59-37BB-C7F7-79FAA1332ACE}"/>
              </a:ext>
            </a:extLst>
          </p:cNvPr>
          <p:cNvSpPr/>
          <p:nvPr/>
        </p:nvSpPr>
        <p:spPr>
          <a:xfrm>
            <a:off x="783770" y="4075737"/>
            <a:ext cx="5312229" cy="2329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accent1"/>
                </a:solidFill>
              </a:rPr>
              <a:t>Regional Performance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Compared sales performance across regions.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1" name="Graphic 10" descr="Daily calendar outline">
            <a:extLst>
              <a:ext uri="{FF2B5EF4-FFF2-40B4-BE49-F238E27FC236}">
                <a16:creationId xmlns:a16="http://schemas.microsoft.com/office/drawing/2014/main" id="{B614BAEE-923A-BFBD-8CB6-441C71B24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257" y="1523999"/>
            <a:ext cx="914400" cy="744711"/>
          </a:xfrm>
          <a:prstGeom prst="rect">
            <a:avLst/>
          </a:prstGeom>
        </p:spPr>
      </p:pic>
      <p:pic>
        <p:nvPicPr>
          <p:cNvPr id="13" name="Graphic 12" descr="Coins outline">
            <a:extLst>
              <a:ext uri="{FF2B5EF4-FFF2-40B4-BE49-F238E27FC236}">
                <a16:creationId xmlns:a16="http://schemas.microsoft.com/office/drawing/2014/main" id="{B7FEA158-D9F2-55DF-DABC-413F71827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9658" y="1439154"/>
            <a:ext cx="914400" cy="744711"/>
          </a:xfrm>
          <a:prstGeom prst="rect">
            <a:avLst/>
          </a:prstGeom>
        </p:spPr>
      </p:pic>
      <p:pic>
        <p:nvPicPr>
          <p:cNvPr id="15" name="Graphic 14" descr="Bar chart outline">
            <a:extLst>
              <a:ext uri="{FF2B5EF4-FFF2-40B4-BE49-F238E27FC236}">
                <a16:creationId xmlns:a16="http://schemas.microsoft.com/office/drawing/2014/main" id="{DA445283-A20C-7906-7BBD-F5205BDEC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370" y="4075737"/>
            <a:ext cx="914400" cy="790177"/>
          </a:xfrm>
          <a:prstGeom prst="rect">
            <a:avLst/>
          </a:prstGeom>
        </p:spPr>
      </p:pic>
      <p:pic>
        <p:nvPicPr>
          <p:cNvPr id="17" name="Graphic 16" descr="Presentation with checklist outline">
            <a:extLst>
              <a:ext uri="{FF2B5EF4-FFF2-40B4-BE49-F238E27FC236}">
                <a16:creationId xmlns:a16="http://schemas.microsoft.com/office/drawing/2014/main" id="{ED29AE80-CFEF-4E01-5A20-BA58E34C74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9658" y="4013625"/>
            <a:ext cx="914400" cy="79017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E148B8-023D-6F13-5BFA-848C28CB1206}"/>
              </a:ext>
            </a:extLst>
          </p:cNvPr>
          <p:cNvCxnSpPr>
            <a:cxnSpLocks/>
          </p:cNvCxnSpPr>
          <p:nvPr/>
        </p:nvCxnSpPr>
        <p:spPr>
          <a:xfrm>
            <a:off x="646111" y="1197429"/>
            <a:ext cx="65711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40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C2E2-0286-A2C3-BC2D-638208EE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9139"/>
          </a:xfrm>
        </p:spPr>
        <p:txBody>
          <a:bodyPr/>
          <a:lstStyle/>
          <a:p>
            <a:r>
              <a:rPr lang="en-IN" sz="4000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A5695-A2BE-B25D-0850-1A9ECCCDE691}"/>
              </a:ext>
            </a:extLst>
          </p:cNvPr>
          <p:cNvSpPr txBox="1"/>
          <p:nvPr/>
        </p:nvSpPr>
        <p:spPr>
          <a:xfrm>
            <a:off x="805543" y="1251857"/>
            <a:ext cx="924529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This project covered the end-to-end data analytics process using Adventure Works sales 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Data Preparation:</a:t>
            </a:r>
            <a:r>
              <a:rPr lang="en-IN" sz="2000" dirty="0"/>
              <a:t> Combined 60,398 sales records using SQL.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Data Analysis:</a:t>
            </a:r>
            <a:r>
              <a:rPr lang="en-IN" sz="2000" dirty="0"/>
              <a:t> </a:t>
            </a:r>
            <a:r>
              <a:rPr lang="en-IN" sz="2000" dirty="0" err="1"/>
              <a:t>Analyzed</a:t>
            </a:r>
            <a:r>
              <a:rPr lang="en-IN" sz="2000" dirty="0"/>
              <a:t> sales, production cost, profit, time periods, and regional performance.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Data Visualization:</a:t>
            </a:r>
            <a:r>
              <a:rPr lang="en-IN" sz="2000" dirty="0"/>
              <a:t> Created dashboards using Excel, Tableau, and Power BI.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Learning Outcome:</a:t>
            </a:r>
            <a:r>
              <a:rPr lang="en-IN" sz="2000" dirty="0"/>
              <a:t> Gained practical experience in SQL, data analysis, data </a:t>
            </a:r>
            <a:r>
              <a:rPr lang="en-IN" sz="2000" dirty="0" err="1"/>
              <a:t>modeling</a:t>
            </a:r>
            <a:r>
              <a:rPr lang="en-IN" sz="2000" dirty="0"/>
              <a:t>, and dashboard development.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Overall:</a:t>
            </a:r>
            <a:r>
              <a:rPr lang="en-IN" sz="2000" dirty="0"/>
              <a:t> This project helped me understand how data analytics tools can transform raw sales data into meaningful business information.</a:t>
            </a:r>
          </a:p>
          <a:p>
            <a:pPr lvl="0">
              <a:lnSpc>
                <a:spcPct val="150000"/>
              </a:lnSpc>
            </a:pP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843F03-80D1-A334-28DA-70D15C6E1DBD}"/>
              </a:ext>
            </a:extLst>
          </p:cNvPr>
          <p:cNvCxnSpPr/>
          <p:nvPr/>
        </p:nvCxnSpPr>
        <p:spPr>
          <a:xfrm>
            <a:off x="729343" y="1153886"/>
            <a:ext cx="349431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28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E5FE-C897-B36D-01E6-0D641BF8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746196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IN" sz="4400" b="1" dirty="0">
                <a:latin typeface="Abadi" panose="020B0604020104020204" pitchFamily="34" charset="0"/>
              </a:rPr>
              <a:t>Thank You</a:t>
            </a:r>
            <a:endParaRPr lang="en-IN" b="1" dirty="0">
              <a:latin typeface="Abadi" panose="020B0604020104020204" pitchFamily="34" charset="0"/>
            </a:endParaRPr>
          </a:p>
        </p:txBody>
      </p:sp>
      <p:pic>
        <p:nvPicPr>
          <p:cNvPr id="4" name="Graphic 3" descr="Badge Tick1 with solid fill">
            <a:extLst>
              <a:ext uri="{FF2B5EF4-FFF2-40B4-BE49-F238E27FC236}">
                <a16:creationId xmlns:a16="http://schemas.microsoft.com/office/drawing/2014/main" id="{368F25A1-DC57-9DF6-7875-B6848EBB79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1272" y="332976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15A3C-D7DE-6535-A5A1-0B47B8D91ABD}"/>
              </a:ext>
            </a:extLst>
          </p:cNvPr>
          <p:cNvSpPr txBox="1"/>
          <p:nvPr/>
        </p:nvSpPr>
        <p:spPr>
          <a:xfrm>
            <a:off x="1407843" y="2046514"/>
            <a:ext cx="7881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Questions &amp; Answers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209EA-0133-9260-8547-ED700C597476}"/>
              </a:ext>
            </a:extLst>
          </p:cNvPr>
          <p:cNvCxnSpPr/>
          <p:nvPr/>
        </p:nvCxnSpPr>
        <p:spPr>
          <a:xfrm>
            <a:off x="3962400" y="1850571"/>
            <a:ext cx="28302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A62E27-BB12-820E-9231-EB4EE45005A9}"/>
              </a:ext>
            </a:extLst>
          </p:cNvPr>
          <p:cNvCxnSpPr/>
          <p:nvPr/>
        </p:nvCxnSpPr>
        <p:spPr>
          <a:xfrm>
            <a:off x="794657" y="2960914"/>
            <a:ext cx="955765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B076D1-90A6-1DC4-514F-65F70D8AB313}"/>
              </a:ext>
            </a:extLst>
          </p:cNvPr>
          <p:cNvSpPr txBox="1"/>
          <p:nvPr/>
        </p:nvSpPr>
        <p:spPr>
          <a:xfrm>
            <a:off x="2416629" y="3429000"/>
            <a:ext cx="6193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ADVENTURE WORKS SALES ANALYTICS</a:t>
            </a:r>
          </a:p>
        </p:txBody>
      </p:sp>
    </p:spTree>
    <p:extLst>
      <p:ext uri="{BB962C8B-B14F-4D97-AF65-F5344CB8AC3E}">
        <p14:creationId xmlns:p14="http://schemas.microsoft.com/office/powerpoint/2010/main" val="308038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206</TotalTime>
  <Words>423</Words>
  <Application>Microsoft Office PowerPoint</Application>
  <PresentationFormat>Widescreen</PresentationFormat>
  <Paragraphs>70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Aptos</vt:lpstr>
      <vt:lpstr>Arial</vt:lpstr>
      <vt:lpstr>Century Gothic</vt:lpstr>
      <vt:lpstr>Wingdings 3</vt:lpstr>
      <vt:lpstr>Ion</vt:lpstr>
      <vt:lpstr>ADVENTURE WORKS  SALES ANALYTICS  End-to-End Data Analytics Project </vt:lpstr>
      <vt:lpstr>PROJECT OVERVIEW</vt:lpstr>
      <vt:lpstr>PROJECT WORKFLOW</vt:lpstr>
      <vt:lpstr>DATA MODEL &amp; RELATIONSHIPS</vt:lpstr>
      <vt:lpstr>SQL DATA PREPARATION</vt:lpstr>
      <vt:lpstr>KEY SQL ANALYSIS</vt:lpstr>
      <vt:lpstr>EXCEL SALES DASHBOARD</vt:lpstr>
      <vt:lpstr>TABLEAU DASHBOARD</vt:lpstr>
      <vt:lpstr>POWER BI DASHBOARD</vt:lpstr>
      <vt:lpstr>SALES ANALYSIS SUMMARY</vt:lpstr>
      <vt:lpstr>CONCLUSION 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Dharmendra Balyan</dc:creator>
  <cp:lastModifiedBy>Dharmendra Balyan</cp:lastModifiedBy>
  <cp:revision>7</cp:revision>
  <dcterms:created xsi:type="dcterms:W3CDTF">2026-10-13T03:31:10Z</dcterms:created>
  <dcterms:modified xsi:type="dcterms:W3CDTF">2026-10-13T17:26:41Z</dcterms:modified>
</cp:coreProperties>
</file>